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7574" autoAdjust="0"/>
  </p:normalViewPr>
  <p:slideViewPr>
    <p:cSldViewPr snapToGrid="0" snapToObjects="1">
      <p:cViewPr varScale="1">
        <p:scale>
          <a:sx n="73" d="100"/>
          <a:sy n="73" d="100"/>
        </p:scale>
        <p:origin x="6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12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本周后端优化的整体思路。我们将 </a:t>
            </a:r>
            <a:r>
              <a:rPr lang="en-US" altLang="zh-CN" dirty="0"/>
              <a:t>user mode </a:t>
            </a:r>
            <a:r>
              <a:rPr lang="zh-CN" altLang="en-US" dirty="0"/>
              <a:t>放在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EDSIM_MODE=auto</a:t>
            </a:r>
            <a:r>
              <a:rPr lang="zh-CN" altLang="en-US" dirty="0"/>
              <a:t> 的统一运行时中，而不是单独启动一个 </a:t>
            </a:r>
            <a:r>
              <a:rPr lang="en-US" altLang="zh-CN" dirty="0"/>
              <a:t>user </a:t>
            </a:r>
            <a:r>
              <a:rPr lang="zh-CN" altLang="en-US" dirty="0"/>
              <a:t>后端。这样，我自己的 </a:t>
            </a:r>
            <a:r>
              <a:rPr lang="en-US" altLang="zh-CN" dirty="0"/>
              <a:t>patient </a:t>
            </a:r>
            <a:r>
              <a:rPr lang="zh-CN" altLang="en-US" dirty="0"/>
              <a:t>会被注入 </a:t>
            </a:r>
            <a:r>
              <a:rPr lang="en-US" altLang="zh-CN" dirty="0"/>
              <a:t>auto </a:t>
            </a:r>
            <a:r>
              <a:rPr lang="zh-CN" altLang="en-US" dirty="0"/>
              <a:t>世界，其余患者仍然按照原有规则和状态机同步推进。与此同时，</a:t>
            </a:r>
            <a:r>
              <a:rPr lang="en-US" altLang="zh-CN" dirty="0"/>
              <a:t>HIS </a:t>
            </a:r>
            <a:r>
              <a:rPr lang="zh-CN" altLang="en-US" dirty="0"/>
              <a:t>作为统一记录层，同时接收 </a:t>
            </a:r>
            <a:r>
              <a:rPr lang="en-US" altLang="zh-CN" dirty="0"/>
              <a:t>auto </a:t>
            </a:r>
            <a:r>
              <a:rPr lang="zh-CN" altLang="en-US" dirty="0"/>
              <a:t>和 </a:t>
            </a:r>
            <a:r>
              <a:rPr lang="en-US" altLang="zh-CN" dirty="0"/>
              <a:t>user </a:t>
            </a:r>
            <a:r>
              <a:rPr lang="zh-CN" altLang="en-US" dirty="0"/>
              <a:t>两类写入，因此后端运行逻辑和数据记录逻辑被真正打通。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展示 </a:t>
            </a:r>
            <a:r>
              <a:rPr lang="de-DE" altLang="zh-CN" dirty="0"/>
              <a:t>user patient </a:t>
            </a:r>
            <a:r>
              <a:rPr lang="zh-CN" altLang="en-US" dirty="0"/>
              <a:t>如何嵌入 </a:t>
            </a:r>
            <a:r>
              <a:rPr lang="de-DE" altLang="zh-CN" dirty="0"/>
              <a:t>auto </a:t>
            </a:r>
            <a:r>
              <a:rPr lang="zh-CN" altLang="en-US" dirty="0"/>
              <a:t>流程。从左到右可以看到，我不是直接进入问诊，而是先经历 </a:t>
            </a:r>
            <a:r>
              <a:rPr lang="de-DE" altLang="zh-CN" dirty="0"/>
              <a:t>intake</a:t>
            </a:r>
            <a:r>
              <a:rPr lang="zh-CN" altLang="de-DE" dirty="0"/>
              <a:t>、</a:t>
            </a:r>
            <a:r>
              <a:rPr lang="zh-CN" altLang="en-US" dirty="0"/>
              <a:t>等待分诊、再到叫号、</a:t>
            </a:r>
            <a:r>
              <a:rPr lang="de-DE" altLang="zh-CN" dirty="0"/>
              <a:t>doctor </a:t>
            </a:r>
            <a:r>
              <a:rPr lang="zh-CN" altLang="en-US" dirty="0"/>
              <a:t>问诊和最终 </a:t>
            </a:r>
            <a:r>
              <a:rPr lang="de-DE" altLang="zh-CN" dirty="0"/>
              <a:t>handoff</a:t>
            </a:r>
            <a:r>
              <a:rPr lang="zh-CN" altLang="de-DE" dirty="0"/>
              <a:t>。</a:t>
            </a:r>
            <a:r>
              <a:rPr lang="zh-CN" altLang="en-US" dirty="0"/>
              <a:t>也就是说，</a:t>
            </a:r>
            <a:r>
              <a:rPr lang="de-DE" altLang="zh-CN" dirty="0"/>
              <a:t>user mode </a:t>
            </a:r>
            <a:r>
              <a:rPr lang="zh-CN" altLang="en-US" dirty="0"/>
              <a:t>仍然受 </a:t>
            </a:r>
            <a:r>
              <a:rPr lang="de-DE" altLang="zh-CN" dirty="0"/>
              <a:t>queue </a:t>
            </a:r>
            <a:r>
              <a:rPr lang="zh-CN" altLang="en-US" dirty="0"/>
              <a:t>和状态机约束。只有轮到 </a:t>
            </a:r>
            <a:r>
              <a:rPr lang="de-DE" altLang="zh-CN" dirty="0"/>
              <a:t>doctor </a:t>
            </a:r>
            <a:r>
              <a:rPr lang="zh-CN" altLang="en-US" dirty="0"/>
              <a:t>评估时，</a:t>
            </a:r>
            <a:r>
              <a:rPr lang="de-DE" altLang="zh-CN" dirty="0"/>
              <a:t>LLM brain </a:t>
            </a:r>
            <a:r>
              <a:rPr lang="zh-CN" altLang="en-US" dirty="0"/>
              <a:t>和 </a:t>
            </a:r>
            <a:r>
              <a:rPr lang="de-DE" altLang="zh-CN" dirty="0"/>
              <a:t>RAG </a:t>
            </a:r>
            <a:r>
              <a:rPr lang="zh-CN" altLang="en-US" dirty="0"/>
              <a:t>才开启，以保证问诊更自然；同时，其他 </a:t>
            </a:r>
            <a:r>
              <a:rPr lang="de-DE" altLang="zh-CN" dirty="0"/>
              <a:t>patient </a:t>
            </a:r>
            <a:r>
              <a:rPr lang="zh-CN" altLang="en-US" dirty="0"/>
              <a:t>仍在后台同步步进并持续写入 </a:t>
            </a:r>
            <a:r>
              <a:rPr lang="de-DE" altLang="zh-CN" dirty="0"/>
              <a:t>HIS</a:t>
            </a:r>
            <a:r>
              <a:rPr lang="zh-CN" altLang="de-DE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dirty="0"/>
              <a:t>HIS </a:t>
            </a:r>
            <a:r>
              <a:rPr lang="zh-CN" altLang="en-US" dirty="0"/>
              <a:t>写入结果以及与接口 </a:t>
            </a:r>
            <a:r>
              <a:rPr lang="de-DE" altLang="zh-CN" dirty="0"/>
              <a:t>v1 </a:t>
            </a:r>
            <a:r>
              <a:rPr lang="zh-CN" altLang="en-US" dirty="0"/>
              <a:t>的一致性证据。左侧统计图表明，当前数据库中已经有 </a:t>
            </a:r>
            <a:r>
              <a:rPr lang="en-US" altLang="zh-CN" dirty="0"/>
              <a:t>111 </a:t>
            </a:r>
            <a:r>
              <a:rPr lang="zh-CN" altLang="en-US" dirty="0"/>
              <a:t>条 </a:t>
            </a:r>
            <a:r>
              <a:rPr lang="de-DE" altLang="zh-CN" dirty="0"/>
              <a:t>encounter</a:t>
            </a:r>
            <a:r>
              <a:rPr lang="zh-CN" altLang="de-DE" dirty="0"/>
              <a:t>、</a:t>
            </a:r>
            <a:r>
              <a:rPr lang="de-DE" altLang="zh-CN" dirty="0"/>
              <a:t>194 </a:t>
            </a:r>
            <a:r>
              <a:rPr lang="zh-CN" altLang="en-US" dirty="0"/>
              <a:t>条 </a:t>
            </a:r>
            <a:r>
              <a:rPr lang="de-DE" altLang="zh-CN" dirty="0"/>
              <a:t>event</a:t>
            </a:r>
            <a:r>
              <a:rPr lang="zh-CN" altLang="de-DE" dirty="0"/>
              <a:t>，</a:t>
            </a:r>
            <a:r>
              <a:rPr lang="zh-CN" altLang="en-US" dirty="0"/>
              <a:t>以及 </a:t>
            </a:r>
            <a:r>
              <a:rPr lang="en-US" altLang="zh-CN" dirty="0"/>
              <a:t>130 </a:t>
            </a:r>
            <a:r>
              <a:rPr lang="zh-CN" altLang="en-US" dirty="0"/>
              <a:t>条 </a:t>
            </a:r>
            <a:r>
              <a:rPr lang="de-DE" altLang="zh-CN" dirty="0"/>
              <a:t>audit </a:t>
            </a:r>
            <a:r>
              <a:rPr lang="zh-CN" altLang="en-US" dirty="0"/>
              <a:t>和 </a:t>
            </a:r>
            <a:r>
              <a:rPr lang="de-DE" altLang="zh-CN" dirty="0"/>
              <a:t>outbox </a:t>
            </a:r>
            <a:r>
              <a:rPr lang="zh-CN" altLang="en-US" dirty="0"/>
              <a:t>记录，说明 </a:t>
            </a:r>
            <a:r>
              <a:rPr lang="de-DE" altLang="zh-CN" dirty="0"/>
              <a:t>HIS </a:t>
            </a:r>
            <a:r>
              <a:rPr lang="zh-CN" altLang="en-US" dirty="0"/>
              <a:t>已经发生了真实写入。右侧则展示关键对齐项：内部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patient_id</a:t>
            </a:r>
            <a:r>
              <a:rPr lang="de-DE" altLang="zh-CN" dirty="0"/>
              <a:t> </a:t>
            </a:r>
            <a:r>
              <a:rPr lang="zh-CN" altLang="en-US" dirty="0"/>
              <a:t>和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encounter_id</a:t>
            </a:r>
            <a:r>
              <a:rPr lang="de-DE" altLang="zh-CN" dirty="0"/>
              <a:t> </a:t>
            </a:r>
            <a:r>
              <a:rPr lang="zh-CN" altLang="en-US" dirty="0"/>
              <a:t>已符合统一格式，</a:t>
            </a:r>
            <a:r>
              <a:rPr lang="de-DE" altLang="zh-CN" dirty="0"/>
              <a:t>triage</a:t>
            </a:r>
            <a:r>
              <a:rPr lang="zh-CN" altLang="de-DE" dirty="0"/>
              <a:t>、</a:t>
            </a:r>
            <a:r>
              <a:rPr lang="de-DE" altLang="zh-CN" dirty="0"/>
              <a:t>event envelope</a:t>
            </a:r>
            <a:r>
              <a:rPr lang="zh-CN" altLang="de-DE" dirty="0"/>
              <a:t>、</a:t>
            </a:r>
            <a:r>
              <a:rPr lang="de-DE" altLang="zh-CN" dirty="0"/>
              <a:t>audit </a:t>
            </a:r>
            <a:r>
              <a:rPr lang="zh-CN" altLang="en-US" dirty="0"/>
              <a:t>和 </a:t>
            </a:r>
            <a:r>
              <a:rPr lang="de-DE" altLang="zh-CN" dirty="0"/>
              <a:t>outbox </a:t>
            </a:r>
            <a:r>
              <a:rPr lang="zh-CN" altLang="en-US" dirty="0"/>
              <a:t>也都已经落库。当前还在过渡的是前端 </a:t>
            </a:r>
            <a:r>
              <a:rPr lang="de-DE" altLang="zh-CN" dirty="0"/>
              <a:t>public ID</a:t>
            </a:r>
            <a:r>
              <a:rPr lang="zh-CN" altLang="de-DE" dirty="0"/>
              <a:t>，</a:t>
            </a:r>
            <a:r>
              <a:rPr lang="zh-CN" altLang="en-US" dirty="0"/>
              <a:t>没有完全切换到内部规范。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前端方面，原来的问题在于接口异常时难以诊断，状态机也可能在失败时误推进。本周我们做了三类修复：第一，将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process_environment</a:t>
            </a:r>
            <a:r>
              <a:rPr lang="zh-CN" altLang="en-US" dirty="0"/>
              <a:t> 等关键接口统一成结构化 </a:t>
            </a:r>
            <a:r>
              <a:rPr lang="en-US" altLang="zh-CN" dirty="0"/>
              <a:t>JSON </a:t>
            </a:r>
            <a:r>
              <a:rPr lang="zh-CN" altLang="en-US" dirty="0"/>
              <a:t>返回；第二，在前端状态机中加入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ok:true</a:t>
            </a:r>
            <a:r>
              <a:rPr lang="zh-CN" altLang="en-US" dirty="0"/>
              <a:t> 和状态检查；第三，新增调试字段和 </a:t>
            </a:r>
            <a:r>
              <a:rPr lang="en-US" altLang="zh-CN" dirty="0"/>
              <a:t>lag </a:t>
            </a:r>
            <a:r>
              <a:rPr lang="zh-CN" altLang="en-US" dirty="0"/>
              <a:t>提示。这样前端从“能显示”进一步提升为“可诊断、可恢复、可解释”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</a:t>
            </a:r>
            <a:r>
              <a:rPr lang="zh-CN" altLang="en-US"/>
              <a:t>一页说明前</a:t>
            </a:r>
            <a:r>
              <a:rPr lang="zh-CN" altLang="en-US" dirty="0"/>
              <a:t>后端实时闭环和本周测试结果。左侧流程图展示了完整链路：后端生成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movement</a:t>
            </a:r>
            <a:r>
              <a:rPr lang="zh-CN" altLang="de-DE" dirty="0"/>
              <a:t>，</a:t>
            </a:r>
            <a:r>
              <a:rPr lang="zh-CN" altLang="en-US" dirty="0"/>
              <a:t>前端通过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de-DE" altLang="zh-CN" dirty="0"/>
              <a:t> </a:t>
            </a:r>
            <a:r>
              <a:rPr lang="zh-CN" altLang="en-US" dirty="0"/>
              <a:t>拉取，再在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de-DE" altLang="zh-CN" dirty="0"/>
              <a:t> </a:t>
            </a:r>
            <a:r>
              <a:rPr lang="zh-CN" altLang="en-US" dirty="0"/>
              <a:t>中逐格移动，之后通过 </a:t>
            </a:r>
            <a:r>
              <a:rPr lang="de-DE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process_environment</a:t>
            </a:r>
            <a:r>
              <a:rPr lang="de-DE" altLang="zh-CN" dirty="0"/>
              <a:t> </a:t>
            </a:r>
            <a:r>
              <a:rPr lang="zh-CN" altLang="en-US" dirty="0"/>
              <a:t>回写状态，最后进入下一步循环。右侧结果表明，本周同步相关测试已扩展，快速回归达到 </a:t>
            </a:r>
            <a:r>
              <a:rPr lang="en-US" altLang="zh-CN" dirty="0"/>
              <a:t>16 </a:t>
            </a:r>
            <a:r>
              <a:rPr lang="de-DE" altLang="zh-CN" dirty="0"/>
              <a:t>passed</a:t>
            </a:r>
            <a:r>
              <a:rPr lang="zh-CN" altLang="de-DE" dirty="0"/>
              <a:t>。</a:t>
            </a:r>
            <a:r>
              <a:rPr lang="zh-CN" altLang="en-US" dirty="0"/>
              <a:t>与此同时，也保留一个明确风险：如果 </a:t>
            </a:r>
            <a:r>
              <a:rPr lang="de-DE" altLang="zh-CN" dirty="0"/>
              <a:t>backend stalled</a:t>
            </a:r>
            <a:r>
              <a:rPr lang="zh-CN" altLang="de-DE" dirty="0"/>
              <a:t>，</a:t>
            </a:r>
            <a:r>
              <a:rPr lang="zh-CN" altLang="en-US" dirty="0"/>
              <a:t>前端即使接口正常，也可能等不到新的 </a:t>
            </a:r>
            <a:r>
              <a:rPr lang="de-DE" altLang="zh-CN" dirty="0"/>
              <a:t>movement</a:t>
            </a:r>
            <a:r>
              <a:rPr lang="zh-CN" altLang="de-DE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" cy="475488"/>
          </a:xfrm>
          <a:prstGeom prst="rect">
            <a:avLst/>
          </a:prstGeom>
          <a:solidFill>
            <a:srgbClr val="083B78"/>
          </a:solidFill>
          <a:ln>
            <a:solidFill>
              <a:srgbClr val="083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后端优化：auto / user / HIS 的统一接入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766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运行形态：EDSIM_MODE=auto 承载 ui_mode=user；LLM 已启用；HIS=sqlite_dev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521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pic>
        <p:nvPicPr>
          <p:cNvPr id="7" name="Image 0" descr="/mnt/data/wide_clean_infographic_medical_systems_diagram_o.png"/>
          <p:cNvPicPr>
            <a:picLocks noChangeAspect="1"/>
          </p:cNvPicPr>
          <p:nvPr/>
        </p:nvPicPr>
        <p:blipFill>
          <a:blip r:embed="rId3"/>
          <a:srcRect l="8000" t="12000" r="42788" b="12000"/>
          <a:stretch/>
        </p:blipFill>
        <p:spPr>
          <a:xfrm>
            <a:off x="6903720" y="1143000"/>
            <a:ext cx="489204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143000"/>
            <a:ext cx="4892040" cy="4251960"/>
          </a:xfrm>
          <a:prstGeom prst="rect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234440"/>
            <a:ext cx="58978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5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B78"/>
                </a:solidFill>
              </a:rPr>
              <a:t>统一运行时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34640" y="14657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B8B"/>
                </a:solidFill>
              </a:rPr>
              <a:t>auto runtime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" y="190195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A9CF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2075688"/>
            <a:ext cx="4892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其他患者：按 auto 规则 / 状态机同步推进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6112" y="2743200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E8F6F6"/>
          </a:solidFill>
          <a:ln w="12700">
            <a:solidFill>
              <a:srgbClr val="9E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2907792"/>
            <a:ext cx="4892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User Patient 1：注入 auto 世界，但受排队规则约束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96112" y="358444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7E6"/>
          </a:solidFill>
          <a:ln w="12700">
            <a:solidFill>
              <a:srgbClr val="FCDF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3749040"/>
            <a:ext cx="4892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Doctor 阶段：仅轮到问诊时开启 LLM brain + RAG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6112" y="4443984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608576"/>
            <a:ext cx="4892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HIS：auto 与 user 事件写入同一个 sqlite_dev 数据库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520440" y="2468880"/>
            <a:ext cx="0" cy="237744"/>
          </a:xfrm>
          <a:prstGeom prst="line">
            <a:avLst/>
          </a:prstGeom>
          <a:noFill/>
          <a:ln w="16510">
            <a:solidFill>
              <a:srgbClr val="008B8B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520440" y="3310128"/>
            <a:ext cx="0" cy="237744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520440" y="4151376"/>
            <a:ext cx="0" cy="256032"/>
          </a:xfrm>
          <a:prstGeom prst="line">
            <a:avLst/>
          </a:prstGeom>
          <a:noFill/>
          <a:ln w="16510">
            <a:solidFill>
              <a:srgbClr val="2EAD6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132320" y="5440680"/>
            <a:ext cx="438912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0160">
            <a:solidFill>
              <a:srgbClr val="D8EA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6062472"/>
            <a:ext cx="11155680" cy="384048"/>
          </a:xfrm>
          <a:prstGeom prst="roundRect">
            <a:avLst>
              <a:gd name="adj" fmla="val 19048"/>
            </a:avLst>
          </a:prstGeom>
          <a:solidFill>
            <a:srgbClr val="F1F8FF"/>
          </a:solidFill>
          <a:ln w="12700">
            <a:solidFill>
              <a:srgbClr val="BBD7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" y="6163056"/>
            <a:ext cx="10607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B78"/>
                </a:solidFill>
              </a:rPr>
              <a:t>统一运行时 + 统一 HIS 记录层：从交互流程走向可追踪数据闭环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32" name="Text 40">
            <a:extLst>
              <a:ext uri="{FF2B5EF4-FFF2-40B4-BE49-F238E27FC236}">
                <a16:creationId xmlns:a16="http://schemas.microsoft.com/office/drawing/2014/main" id="{D463A119-1837-1FBB-9469-D27EAF11C46B}"/>
              </a:ext>
            </a:extLst>
          </p:cNvPr>
          <p:cNvSpPr/>
          <p:nvPr/>
        </p:nvSpPr>
        <p:spPr>
          <a:xfrm>
            <a:off x="5074920" y="662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570"/>
                </a:solidFill>
              </a:rPr>
              <a:t>2026 年 5 月 15 日</a:t>
            </a:r>
            <a:endParaRPr lang="en-US" sz="750" dirty="0"/>
          </a:p>
        </p:txBody>
      </p:sp>
      <p:sp>
        <p:nvSpPr>
          <p:cNvPr id="33" name="Text 41">
            <a:extLst>
              <a:ext uri="{FF2B5EF4-FFF2-40B4-BE49-F238E27FC236}">
                <a16:creationId xmlns:a16="http://schemas.microsoft.com/office/drawing/2014/main" id="{AD59B138-A939-06FD-CA89-B36442168F6B}"/>
              </a:ext>
            </a:extLst>
          </p:cNvPr>
          <p:cNvSpPr/>
          <p:nvPr/>
        </p:nvSpPr>
        <p:spPr>
          <a:xfrm>
            <a:off x="9875520" y="6620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0"/>
                </a:solidFill>
              </a:rPr>
              <a:t>第 1 页 / 共 5 页</a:t>
            </a:r>
            <a:endParaRPr lang="en-US" sz="750" dirty="0"/>
          </a:p>
        </p:txBody>
      </p:sp>
      <p:sp>
        <p:nvSpPr>
          <p:cNvPr id="34" name="Text 49">
            <a:extLst>
              <a:ext uri="{FF2B5EF4-FFF2-40B4-BE49-F238E27FC236}">
                <a16:creationId xmlns:a16="http://schemas.microsoft.com/office/drawing/2014/main" id="{01CB86E7-AD4B-9E38-7663-B42B0390D447}"/>
              </a:ext>
            </a:extLst>
          </p:cNvPr>
          <p:cNvSpPr/>
          <p:nvPr/>
        </p:nvSpPr>
        <p:spPr>
          <a:xfrm>
            <a:off x="502920" y="6620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</a:rPr>
              <a:t>生物医学工程 / BME1315课程汇报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" cy="475488"/>
          </a:xfrm>
          <a:prstGeom prst="rect">
            <a:avLst/>
          </a:prstGeom>
          <a:solidFill>
            <a:srgbClr val="083B78"/>
          </a:solidFill>
          <a:ln>
            <a:solidFill>
              <a:srgbClr val="083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patient 嵌入 auto 流程：排队、问诊与转归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766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用户不是独立后端，而是作为 User Patient 1 注入 auto runtime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521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315468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1266C3"/>
            </a:solidFill>
            <a:prstDash val="solid"/>
          </a:ln>
        </p:spPr>
      </p:sp>
      <p:pic>
        <p:nvPicPr>
          <p:cNvPr id="8" name="Image 0" descr="/mnt/data/week11_pre_extracted/week11_pre/demo_process/1.png"/>
          <p:cNvPicPr>
            <a:picLocks noChangeAspect="1"/>
          </p:cNvPicPr>
          <p:nvPr/>
        </p:nvPicPr>
        <p:blipFill>
          <a:blip r:embed="rId3"/>
          <a:srcRect t="3000" r="-9228" b="15000"/>
          <a:stretch/>
        </p:blipFill>
        <p:spPr>
          <a:xfrm>
            <a:off x="594360" y="1243584"/>
            <a:ext cx="2971800" cy="2816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" y="4133088"/>
            <a:ext cx="2935224" cy="310896"/>
          </a:xfrm>
          <a:prstGeom prst="roundRect">
            <a:avLst>
              <a:gd name="adj" fmla="val 17647"/>
            </a:avLst>
          </a:prstGeom>
          <a:solidFill>
            <a:srgbClr val="F0F8FF"/>
          </a:solidFill>
          <a:ln w="12700">
            <a:solidFill>
              <a:srgbClr val="C9E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22452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B78"/>
                </a:solidFill>
              </a:rPr>
              <a:t>INTAKE / 等待分诊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60520" y="1143000"/>
            <a:ext cx="315468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pic>
        <p:nvPicPr>
          <p:cNvPr id="12" name="Image 1" descr="/mnt/data/week11_pre_extracted/week11_pre/demo_process/2.png"/>
          <p:cNvPicPr>
            <a:picLocks noChangeAspect="1"/>
          </p:cNvPicPr>
          <p:nvPr/>
        </p:nvPicPr>
        <p:blipFill>
          <a:blip r:embed="rId4"/>
          <a:srcRect t="3000" r="-15795" b="15000"/>
          <a:stretch/>
        </p:blipFill>
        <p:spPr>
          <a:xfrm>
            <a:off x="4251960" y="1243584"/>
            <a:ext cx="2971800" cy="28163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70248" y="4133088"/>
            <a:ext cx="2935224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CDFA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43400" y="422452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DOCTOR_CALLED / 开启问诊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18120" y="1143000"/>
            <a:ext cx="315468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1266C3"/>
            </a:solidFill>
            <a:prstDash val="solid"/>
          </a:ln>
        </p:spPr>
      </p:sp>
      <p:pic>
        <p:nvPicPr>
          <p:cNvPr id="16" name="Image 2" descr="/mnt/data/week11_pre_extracted/week11_pre/demo_process/3.png"/>
          <p:cNvPicPr>
            <a:picLocks noChangeAspect="1"/>
          </p:cNvPicPr>
          <p:nvPr/>
        </p:nvPicPr>
        <p:blipFill>
          <a:blip r:embed="rId5"/>
          <a:srcRect t="3000" r="-17701" b="15000"/>
          <a:stretch/>
        </p:blipFill>
        <p:spPr>
          <a:xfrm>
            <a:off x="7909560" y="1243584"/>
            <a:ext cx="2971800" cy="28163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27848" y="4133088"/>
            <a:ext cx="2935224" cy="310896"/>
          </a:xfrm>
          <a:prstGeom prst="roundRect">
            <a:avLst>
              <a:gd name="adj" fmla="val 17647"/>
            </a:avLst>
          </a:prstGeom>
          <a:solidFill>
            <a:srgbClr val="F0F8FF"/>
          </a:solidFill>
          <a:ln w="12700">
            <a:solidFill>
              <a:srgbClr val="C9E5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01000" y="422452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B78"/>
                </a:solidFill>
              </a:rPr>
              <a:t>DONE / 转入病房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" y="4773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7F7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8952" y="495646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B8B"/>
                </a:solidFill>
              </a:rPr>
              <a:t>进入系统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993392" y="5020056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514600" y="4773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7F7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587752" y="495646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B8B"/>
                </a:solidFill>
              </a:rPr>
              <a:t>分诊 / 排队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822192" y="5020056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4343400" y="4773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7F7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416552" y="495646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B8B"/>
                </a:solidFill>
              </a:rPr>
              <a:t>叫号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650992" y="5020056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172200" y="4773168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6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45352" y="4956466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Doctor LLM/RAG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754112" y="5020056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8275320" y="4773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7F7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48472" y="495646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B8B"/>
                </a:solidFill>
              </a:rPr>
              <a:t>handoff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9582912" y="5020056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10104120" y="4773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7F7"/>
          </a:solidFill>
          <a:ln w="12700">
            <a:solidFill>
              <a:srgbClr val="2EAD6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177272" y="495646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68"/>
                </a:solidFill>
              </a:rPr>
              <a:t>WARD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78027" y="5500116"/>
            <a:ext cx="1083564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0160">
            <a:solidFill>
              <a:srgbClr val="D8EAF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69461" y="5225952"/>
            <a:ext cx="10960083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关键机制：user 遵守 queue / state machine；doctor LLM/RAG 只在问诊阶段启用；其他 patient 同步步进并继续写入 HIS。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7722576A-CA0F-15EF-C98F-7E5E5503558F}"/>
              </a:ext>
            </a:extLst>
          </p:cNvPr>
          <p:cNvSpPr/>
          <p:nvPr/>
        </p:nvSpPr>
        <p:spPr>
          <a:xfrm>
            <a:off x="5074920" y="662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570"/>
                </a:solidFill>
              </a:rPr>
              <a:t>2026 年 5 月 15 日</a:t>
            </a:r>
            <a:endParaRPr lang="en-US" sz="75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3626279A-9CCC-1BA9-E8D6-B4B96A0F310E}"/>
              </a:ext>
            </a:extLst>
          </p:cNvPr>
          <p:cNvSpPr/>
          <p:nvPr/>
        </p:nvSpPr>
        <p:spPr>
          <a:xfrm>
            <a:off x="9875520" y="6620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0"/>
                </a:solidFill>
              </a:rPr>
              <a:t>第 2 页 / 共 5 页</a:t>
            </a:r>
            <a:endParaRPr lang="en-US" sz="750" dirty="0"/>
          </a:p>
        </p:txBody>
      </p:sp>
      <p:sp>
        <p:nvSpPr>
          <p:cNvPr id="45" name="Text 49">
            <a:extLst>
              <a:ext uri="{FF2B5EF4-FFF2-40B4-BE49-F238E27FC236}">
                <a16:creationId xmlns:a16="http://schemas.microsoft.com/office/drawing/2014/main" id="{46878395-DC1A-1540-AABC-F183B7D7AEC1}"/>
              </a:ext>
            </a:extLst>
          </p:cNvPr>
          <p:cNvSpPr/>
          <p:nvPr/>
        </p:nvSpPr>
        <p:spPr>
          <a:xfrm>
            <a:off x="502920" y="6620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</a:rPr>
              <a:t>生物医学工程 / BME1315课程汇报</a:t>
            </a:r>
            <a:endParaRPr lang="en-US" sz="75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02476BA-F59C-7EAF-4C41-308C0D44C818}"/>
              </a:ext>
            </a:extLst>
          </p:cNvPr>
          <p:cNvSpPr/>
          <p:nvPr/>
        </p:nvSpPr>
        <p:spPr>
          <a:xfrm>
            <a:off x="758952" y="1418897"/>
            <a:ext cx="2420427" cy="92491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CFE0C0E-238E-E577-6D57-026D0B6E4D7D}"/>
              </a:ext>
            </a:extLst>
          </p:cNvPr>
          <p:cNvSpPr/>
          <p:nvPr/>
        </p:nvSpPr>
        <p:spPr>
          <a:xfrm>
            <a:off x="4367626" y="1385472"/>
            <a:ext cx="2420427" cy="92491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E00C45F-AB51-C2A6-0F71-CEF7CEE67827}"/>
              </a:ext>
            </a:extLst>
          </p:cNvPr>
          <p:cNvSpPr/>
          <p:nvPr/>
        </p:nvSpPr>
        <p:spPr>
          <a:xfrm>
            <a:off x="7927848" y="1342803"/>
            <a:ext cx="2420427" cy="92491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" cy="475488"/>
          </a:xfrm>
          <a:prstGeom prst="rect">
            <a:avLst/>
          </a:prstGeom>
          <a:solidFill>
            <a:srgbClr val="083B78"/>
          </a:solidFill>
          <a:ln>
            <a:solidFill>
              <a:srgbClr val="083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 写入结果与接口 v1 一致性证据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766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已产生真实业务数据；内部 ID 与事件记录开始对齐接口契约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521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B78"/>
                </a:solidFill>
              </a:rPr>
              <a:t>关键表记录量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59105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encounters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572768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572768"/>
            <a:ext cx="1370228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59105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111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800" y="192938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triage_records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911096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911096"/>
            <a:ext cx="1370228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92938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111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" y="22677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event_registry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2249424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2249424"/>
            <a:ext cx="239481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267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194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60604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current_summaries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2587752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587752"/>
            <a:ext cx="1370228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6060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111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294436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handoff_snapshots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2926080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2926080"/>
            <a:ext cx="839419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29443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68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328269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audit_logs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3264408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3264408"/>
            <a:ext cx="1604772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28269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130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" y="362102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</a:rPr>
              <a:t>outbox_events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94560" y="3602736"/>
            <a:ext cx="2468880" cy="2286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3602736"/>
            <a:ext cx="1604772" cy="2286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362102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</a:rPr>
              <a:t>130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0080" y="41605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7FCFC"/>
          </a:solidFill>
          <a:ln w="10160">
            <a:solidFill>
              <a:srgbClr val="BE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24649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8B8B"/>
                </a:solidFill>
              </a:rPr>
              <a:t>案例映射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" y="4599432"/>
            <a:ext cx="3968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public encounter: enc-2ffe011cbe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internal encounter: E-20260515150846-6f1c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internal patient: P-656e8c67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ctas_level: L3 | zone: yellow | status: COMPLETED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1170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B78"/>
                </a:solidFill>
              </a:rPr>
              <a:t>接口契约对齐检查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257800" y="1536192"/>
            <a:ext cx="6309360" cy="493776"/>
          </a:xfrm>
          <a:prstGeom prst="rect">
            <a:avLst/>
          </a:prstGeom>
          <a:solidFill>
            <a:srgbClr val="083B78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0952" y="168249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检查项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1536192"/>
            <a:ext cx="0" cy="493776"/>
          </a:xfrm>
          <a:prstGeom prst="line">
            <a:avLst/>
          </a:prstGeom>
          <a:noFill/>
          <a:ln w="6350">
            <a:solidFill>
              <a:srgbClr val="3565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9712" y="1682496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数据库证据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738360" y="1536192"/>
            <a:ext cx="0" cy="493776"/>
          </a:xfrm>
          <a:prstGeom prst="line">
            <a:avLst/>
          </a:prstGeom>
          <a:noFill/>
          <a:ln w="6350">
            <a:solidFill>
              <a:srgbClr val="3565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82496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结论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57800" y="2020824"/>
            <a:ext cx="6309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30952" y="217627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patient_id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2029968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2176272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P-xxxxxxxx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738360" y="2029968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11512" y="2176272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内部对齐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7800" y="2514600"/>
            <a:ext cx="6309360" cy="493776"/>
          </a:xfrm>
          <a:prstGeom prst="rect">
            <a:avLst/>
          </a:prstGeom>
          <a:solidFill>
            <a:srgbClr val="F7FAF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30952" y="2670048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encounter_id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2523744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9712" y="2670048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E-YYYYMMDDHHmmss-xxxx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738360" y="2523744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1512" y="267004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内部对齐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57800" y="3008376"/>
            <a:ext cx="6309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30952" y="3163824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triage / zone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66560" y="3017520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9712" y="3163824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L3 → yellow（user case）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738360" y="3017520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11512" y="3163824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已落库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57800" y="3502152"/>
            <a:ext cx="6309360" cy="493776"/>
          </a:xfrm>
          <a:prstGeom prst="rect">
            <a:avLst/>
          </a:prstGeom>
          <a:solidFill>
            <a:srgbClr val="F7FAF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30952" y="3657600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event envelope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3511296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39712" y="365760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event_id, type, time, patient, encounter, payload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738360" y="3511296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11512" y="3657600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已记录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257800" y="3995928"/>
            <a:ext cx="6309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30952" y="415137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audit / outbox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766560" y="4005072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39712" y="4151376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130 / 130 条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738360" y="4005072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4151376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可审计 / 待发布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257800" y="4489704"/>
            <a:ext cx="6309360" cy="493776"/>
          </a:xfrm>
          <a:prstGeom prst="rect">
            <a:avLst/>
          </a:prstGeom>
          <a:solidFill>
            <a:srgbClr val="F7FAF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30952" y="464515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public ID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766560" y="4498848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39712" y="4645152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enc-* 保存在 metadata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738360" y="4498848"/>
            <a:ext cx="0" cy="493776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4645152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过渡中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02920" y="6062472"/>
            <a:ext cx="11155680" cy="384048"/>
          </a:xfrm>
          <a:prstGeom prst="roundRect">
            <a:avLst>
              <a:gd name="adj" fmla="val 19048"/>
            </a:avLst>
          </a:prstGeom>
          <a:solidFill>
            <a:srgbClr val="F1F8FF"/>
          </a:solidFill>
          <a:ln w="12700">
            <a:solidFill>
              <a:srgbClr val="BBD7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" y="6163056"/>
            <a:ext cx="10607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B78"/>
                </a:solidFill>
              </a:rPr>
              <a:t>HIS 不再是空壳：auto 与 user 流程已形成可查询、可审计、可交换的数据证据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502920" y="57790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794"/>
                </a:solidFill>
              </a:rPr>
              <a:t>引用数据：data/21_counts.tsv；data/11_encounters_sample.tsv；data/12_triage_sample.tsv；data/13_event_registry_sample.tsv；data/16_audit_logs_sample.tsv；data/17_outbox_events_sample.tsv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E1A8C1EC-0160-4037-04CA-29908A2BF1B2}"/>
              </a:ext>
            </a:extLst>
          </p:cNvPr>
          <p:cNvSpPr/>
          <p:nvPr/>
        </p:nvSpPr>
        <p:spPr>
          <a:xfrm>
            <a:off x="5074920" y="662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570"/>
                </a:solidFill>
              </a:rPr>
              <a:t>2026 年 5 月 15 日</a:t>
            </a:r>
            <a:endParaRPr lang="en-US" sz="750" dirty="0"/>
          </a:p>
        </p:txBody>
      </p:sp>
      <p:sp>
        <p:nvSpPr>
          <p:cNvPr id="90" name="Text 41">
            <a:extLst>
              <a:ext uri="{FF2B5EF4-FFF2-40B4-BE49-F238E27FC236}">
                <a16:creationId xmlns:a16="http://schemas.microsoft.com/office/drawing/2014/main" id="{325F0FD9-047D-E57D-EA8E-D5806E7C1C75}"/>
              </a:ext>
            </a:extLst>
          </p:cNvPr>
          <p:cNvSpPr/>
          <p:nvPr/>
        </p:nvSpPr>
        <p:spPr>
          <a:xfrm>
            <a:off x="9875520" y="6620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0"/>
                </a:solidFill>
              </a:rPr>
              <a:t>第 3 页 / 共 5 页</a:t>
            </a:r>
            <a:endParaRPr lang="en-US" sz="750" dirty="0"/>
          </a:p>
        </p:txBody>
      </p:sp>
      <p:sp>
        <p:nvSpPr>
          <p:cNvPr id="91" name="Text 49">
            <a:extLst>
              <a:ext uri="{FF2B5EF4-FFF2-40B4-BE49-F238E27FC236}">
                <a16:creationId xmlns:a16="http://schemas.microsoft.com/office/drawing/2014/main" id="{1AA2F245-04CD-041D-E15D-6F75460AC9D4}"/>
              </a:ext>
            </a:extLst>
          </p:cNvPr>
          <p:cNvSpPr/>
          <p:nvPr/>
        </p:nvSpPr>
        <p:spPr>
          <a:xfrm>
            <a:off x="502920" y="6620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</a:rPr>
              <a:t>生物医学工程 / BME1315课程汇报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" cy="475488"/>
          </a:xfrm>
          <a:prstGeom prst="rect">
            <a:avLst/>
          </a:prstGeom>
          <a:solidFill>
            <a:srgbClr val="083B78"/>
          </a:solidFill>
          <a:ln>
            <a:solidFill>
              <a:srgbClr val="083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前端优化：通信硬化、状态机修复与可观测性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766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 auto/user 共通链路从“能显示”升级为“可诊断、可恢复、可解释”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521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B78"/>
                </a:solidFill>
              </a:rPr>
              <a:t>问题—修复—效果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6583680" cy="566928"/>
          </a:xfrm>
          <a:prstGeom prst="roundRect">
            <a:avLst>
              <a:gd name="adj" fmla="val 6452"/>
            </a:avLst>
          </a:prstGeom>
          <a:solidFill>
            <a:srgbClr val="083B78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61848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原先问题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508760"/>
            <a:ext cx="0" cy="566928"/>
          </a:xfrm>
          <a:prstGeom prst="line">
            <a:avLst/>
          </a:prstGeom>
          <a:noFill/>
          <a:ln w="6350">
            <a:solidFill>
              <a:srgbClr val="3565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16184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本周修复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0" cy="566928"/>
          </a:xfrm>
          <a:prstGeom prst="line">
            <a:avLst/>
          </a:prstGeom>
          <a:noFill/>
          <a:ln w="6350">
            <a:solidFill>
              <a:srgbClr val="3565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16184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当前效果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167128"/>
            <a:ext cx="6583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27685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process_environment 返回不稳定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2167128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227685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11827"/>
                </a:solidFill>
              </a:rPr>
              <a:t>接口硬化：405/400/500/200 均返回 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17790" y="2167128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27685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不再依赖 HTML 500 调试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825496"/>
            <a:ext cx="6583680" cy="566928"/>
          </a:xfrm>
          <a:prstGeom prst="roundRect">
            <a:avLst>
              <a:gd name="adj" fmla="val 6452"/>
            </a:avLst>
          </a:prstGeom>
          <a:solidFill>
            <a:srgbClr val="F7FAF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35224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load 回调无条件推进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2825496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4056" y="2935224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检查 HTTP 状态与 ok:true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825496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93522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失败时停留 process 并重试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483864"/>
            <a:ext cx="6583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593592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同步异常难定位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3483864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4056" y="359359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11827"/>
                </a:solidFill>
              </a:rPr>
              <a:t>新增 lastProcessStatus / Error / RetryCount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3483864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59359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可观察性增强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142232"/>
            <a:ext cx="6583680" cy="566928"/>
          </a:xfrm>
          <a:prstGeom prst="roundRect">
            <a:avLst>
              <a:gd name="adj" fmla="val 6452"/>
            </a:avLst>
          </a:prstGeom>
          <a:solidFill>
            <a:srgbClr val="F7FAF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25196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auto/user 过程难解释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4142232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4251960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11827"/>
                </a:solidFill>
              </a:rPr>
              <a:t>明确 movement → update → execute → process 闭环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4142232"/>
            <a:ext cx="0" cy="566928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42519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便于演示与排查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1298448"/>
            <a:ext cx="41605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5F5"/>
            </a:solidFill>
            <a:prstDash val="solid"/>
          </a:ln>
        </p:spPr>
      </p:sp>
      <p:pic>
        <p:nvPicPr>
          <p:cNvPr id="39" name="Image 0" descr="/mnt/data/a_clean_vector_infographic_diagram_on_a_white_ba.png"/>
          <p:cNvPicPr>
            <a:picLocks noChangeAspect="1"/>
          </p:cNvPicPr>
          <p:nvPr/>
        </p:nvPicPr>
        <p:blipFill>
          <a:blip r:embed="rId3"/>
          <a:srcRect l="10000" t="18000" r="36057" b="17000"/>
          <a:stretch/>
        </p:blipFill>
        <p:spPr>
          <a:xfrm>
            <a:off x="7589520" y="1389888"/>
            <a:ext cx="3977640" cy="269748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635240" y="4370832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1266C3"/>
          </a:solidFill>
          <a:ln w="12700">
            <a:solidFill>
              <a:srgbClr val="1266C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08392" y="443026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JSON API hardening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9189720" y="4370832"/>
            <a:ext cx="1234440" cy="301752"/>
          </a:xfrm>
          <a:prstGeom prst="roundRect">
            <a:avLst>
              <a:gd name="adj" fmla="val 212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62872" y="443026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Retry on failure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10561320" y="4370832"/>
            <a:ext cx="1051560" cy="301752"/>
          </a:xfrm>
          <a:prstGeom prst="roundRect">
            <a:avLst>
              <a:gd name="adj" fmla="val 21212"/>
            </a:avLst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34472" y="443026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Debug signals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7498080" y="4892040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26680" y="51023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AD68"/>
                </a:solidFill>
              </a:rPr>
              <a:t>测试结果：Django 端点与同步测试 16 passed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502920" y="57790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794"/>
                </a:solidFill>
              </a:rPr>
              <a:t>引用资料：frontend.md；Generated front-end/back-end synchronization visual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502920" y="6062472"/>
            <a:ext cx="11155680" cy="384048"/>
          </a:xfrm>
          <a:prstGeom prst="roundRect">
            <a:avLst>
              <a:gd name="adj" fmla="val 19048"/>
            </a:avLst>
          </a:prstGeom>
          <a:solidFill>
            <a:srgbClr val="F1F8FF"/>
          </a:solidFill>
          <a:ln w="12700">
            <a:solidFill>
              <a:srgbClr val="BBD7F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6163056"/>
            <a:ext cx="10607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B78"/>
                </a:solidFill>
              </a:rPr>
              <a:t>前端优化重点：不是换 UI，而是增强通信可靠性、状态机正确性与故障定位能力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2920" y="6620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</a:rPr>
              <a:t>生物医学工程 / BME1315课程汇报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074920" y="662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570"/>
                </a:solidFill>
              </a:rPr>
              <a:t>2026 年 5 月 15 日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9875520" y="6620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0"/>
                </a:solidFill>
              </a:rPr>
              <a:t>第 4 页 / 共 5 页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" cy="475488"/>
          </a:xfrm>
          <a:prstGeom prst="rect">
            <a:avLst/>
          </a:prstGeom>
          <a:solidFill>
            <a:srgbClr val="083B78"/>
          </a:solidFill>
          <a:ln>
            <a:solidFill>
              <a:srgbClr val="083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前后端实时闭环、测试结果与剩余风险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766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movement 生产到 environment 回写，构建可追踪的同步链路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521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6766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813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B78"/>
                </a:solidFill>
              </a:rPr>
              <a:t>实时同步链路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1901952"/>
            <a:ext cx="6080760" cy="438912"/>
          </a:xfrm>
          <a:prstGeom prst="roundRect">
            <a:avLst>
              <a:gd name="adj" fmla="val 16667"/>
            </a:avLst>
          </a:prstGeom>
          <a:solidFill>
            <a:srgbClr val="F2F8FF"/>
          </a:solidFill>
          <a:ln w="12700">
            <a:solidFill>
              <a:srgbClr val="126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8424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6C3"/>
                </a:solidFill>
              </a:rPr>
              <a:t>movement/&lt;step&gt;.json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198424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后端生成 movement_path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54780" y="2395728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2615184"/>
            <a:ext cx="6080760" cy="438912"/>
          </a:xfrm>
          <a:prstGeom prst="roundRect">
            <a:avLst>
              <a:gd name="adj" fmla="val 16667"/>
            </a:avLst>
          </a:prstGeom>
          <a:solidFill>
            <a:srgbClr val="F0FCFC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97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B8B"/>
                </a:solidFill>
              </a:rPr>
              <a:t>/update_environment/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前端拉取 step movement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4780" y="31089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328416"/>
            <a:ext cx="6080760" cy="438912"/>
          </a:xfrm>
          <a:prstGeom prst="roundRect">
            <a:avLst>
              <a:gd name="adj" fmla="val 16667"/>
            </a:avLst>
          </a:prstGeom>
          <a:solidFill>
            <a:srgbClr val="F2F8FF"/>
          </a:solidFill>
          <a:ln w="12700">
            <a:solidFill>
              <a:srgbClr val="126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41071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6C3"/>
                </a:solidFill>
              </a:rPr>
              <a:t>execute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341071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逐格移动 + walk 动画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54780" y="38221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4041648"/>
            <a:ext cx="6080760" cy="438912"/>
          </a:xfrm>
          <a:prstGeom prst="roundRect">
            <a:avLst>
              <a:gd name="adj" fmla="val 16667"/>
            </a:avLst>
          </a:prstGeom>
          <a:solidFill>
            <a:srgbClr val="F0FCFC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2394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B8B"/>
                </a:solidFill>
              </a:rPr>
              <a:t>/process_environment/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4123944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回写环境状态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54780" y="4535424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4754880"/>
            <a:ext cx="6080760" cy="438912"/>
          </a:xfrm>
          <a:prstGeom prst="roundRect">
            <a:avLst>
              <a:gd name="adj" fmla="val 16667"/>
            </a:avLst>
          </a:prstGeom>
          <a:solidFill>
            <a:srgbClr val="F2F8FF"/>
          </a:solidFill>
          <a:ln w="12700">
            <a:solidFill>
              <a:srgbClr val="1266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8371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6C3"/>
                </a:solidFill>
              </a:rPr>
              <a:t>environment/&lt;step&gt;.json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483717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进入下一步循环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123444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B7E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91272" y="136245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AD68"/>
                </a:solidFill>
              </a:rPr>
              <a:t>验证结果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91272" y="1673352"/>
            <a:ext cx="3557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11827"/>
                </a:solidFill>
              </a:rPr>
              <a:t>• 新增/扩展 Django 端点与同步测试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11827"/>
                </a:solidFill>
              </a:rPr>
              <a:t>• 本地快速回归：16 passed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11827"/>
                </a:solidFill>
              </a:rPr>
              <a:t>• process_environment 返回结构化 JSON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2651760"/>
            <a:ext cx="3886200" cy="1572768"/>
          </a:xfrm>
          <a:prstGeom prst="roundRect">
            <a:avLst>
              <a:gd name="adj" fmla="val 5814"/>
            </a:avLst>
          </a:prstGeom>
          <a:solidFill>
            <a:srgbClr val="FFF7E6"/>
          </a:solidFill>
          <a:ln w="10160">
            <a:solidFill>
              <a:srgbClr val="FCD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1272" y="277977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剩余风险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91272" y="3090672"/>
            <a:ext cx="3557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11827"/>
                </a:solidFill>
              </a:rPr>
              <a:t>当 backend_alive=false 或 stalled=true 时，前端即使接口正常，也可能等不到新 movement。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11827"/>
                </a:solidFill>
              </a:rPr>
              <a:t>表现：人物不继续移动；本质：runtime 消费链中断。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4526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0FCFC"/>
          </a:solidFill>
          <a:ln w="10160">
            <a:solidFill>
              <a:srgbClr val="BE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465429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8B8B"/>
                </a:solidFill>
              </a:rPr>
              <a:t>恢复同步判据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91272" y="4965192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backend_alive=true；stalled=false；pending_command_count 不持续积压；latest_environment_step 跟随 movement 增长。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577900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794"/>
                </a:solidFill>
              </a:rPr>
              <a:t>引用资料：frontend.md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18160" y="6062472"/>
            <a:ext cx="11155680" cy="384048"/>
          </a:xfrm>
          <a:prstGeom prst="roundRect">
            <a:avLst>
              <a:gd name="adj" fmla="val 19048"/>
            </a:avLst>
          </a:prstGeom>
          <a:solidFill>
            <a:srgbClr val="F1F8FF"/>
          </a:solidFill>
          <a:ln w="12700">
            <a:solidFill>
              <a:srgbClr val="BBD7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6163056"/>
            <a:ext cx="10607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B78"/>
                </a:solidFill>
              </a:rPr>
              <a:t>本周交付：后端 HIS 接入 + user 嵌入 auto + 前端同步链路可观测化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662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570"/>
                </a:solidFill>
              </a:rPr>
              <a:t>2026 年 5 月 15 日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875520" y="6620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0"/>
                </a:solidFill>
              </a:rPr>
              <a:t>第 5 页 / 共 5 页</a:t>
            </a:r>
            <a:endParaRPr lang="en-US" sz="750" dirty="0"/>
          </a:p>
        </p:txBody>
      </p:sp>
      <p:sp>
        <p:nvSpPr>
          <p:cNvPr id="44" name="Text 49">
            <a:extLst>
              <a:ext uri="{FF2B5EF4-FFF2-40B4-BE49-F238E27FC236}">
                <a16:creationId xmlns:a16="http://schemas.microsoft.com/office/drawing/2014/main" id="{15BD82BF-AEC7-D67F-0669-C759F57AACBC}"/>
              </a:ext>
            </a:extLst>
          </p:cNvPr>
          <p:cNvSpPr/>
          <p:nvPr/>
        </p:nvSpPr>
        <p:spPr>
          <a:xfrm>
            <a:off x="502920" y="6620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</a:rPr>
              <a:t>生物医学工程 / BME1315课程汇报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1112</Words>
  <Application>Microsoft Office PowerPoint</Application>
  <PresentationFormat>宽屏</PresentationFormat>
  <Paragraphs>145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ShanghaiTech BME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ED-MAS Progress</dc:title>
  <dc:subject>Week 11 ED-MAS: HIS integration and frontend optimization</dc:subject>
  <dc:creator>ED-MAS HIS Presentation</dc:creator>
  <cp:lastModifiedBy>薇 贾</cp:lastModifiedBy>
  <cp:revision>3</cp:revision>
  <dcterms:created xsi:type="dcterms:W3CDTF">2026-05-15T08:09:07Z</dcterms:created>
  <dcterms:modified xsi:type="dcterms:W3CDTF">2026-05-15T08:21:48Z</dcterms:modified>
</cp:coreProperties>
</file>